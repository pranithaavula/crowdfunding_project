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Bold" charset="1" panose="00000800000000000000"/>
      <p:regular r:id="rId22"/>
    </p:embeddedFont>
    <p:embeddedFont>
      <p:font typeface="Now Bold" charset="1" panose="00000800000000000000"/>
      <p:regular r:id="rId23"/>
    </p:embeddedFont>
    <p:embeddedFont>
      <p:font typeface="Canva Sans Bold" charset="1" panose="020B0803030501040103"/>
      <p:regular r:id="rId24"/>
    </p:embeddedFont>
    <p:embeddedFont>
      <p:font typeface="Canva Sans" charset="1" panose="020B0503030501040103"/>
      <p:regular r:id="rId25"/>
    </p:embeddedFont>
    <p:embeddedFont>
      <p:font typeface="Now" charset="1" panose="00000500000000000000"/>
      <p:regular r:id="rId26"/>
    </p:embeddedFont>
    <p:embeddedFont>
      <p:font typeface="Open Sauce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8.pn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8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982"/>
            <a:ext cx="15501768" cy="10744559"/>
          </a:xfrm>
          <a:custGeom>
            <a:avLst/>
            <a:gdLst/>
            <a:ahLst/>
            <a:cxnLst/>
            <a:rect r="r" b="b" t="t" l="l"/>
            <a:pathLst>
              <a:path h="10744559" w="15501768">
                <a:moveTo>
                  <a:pt x="0" y="0"/>
                </a:moveTo>
                <a:lnTo>
                  <a:pt x="15501768" y="0"/>
                </a:lnTo>
                <a:lnTo>
                  <a:pt x="15501768" y="10744559"/>
                </a:lnTo>
                <a:lnTo>
                  <a:pt x="0" y="1074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442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97689" y="-1791025"/>
            <a:ext cx="4066773" cy="4066773"/>
          </a:xfrm>
          <a:custGeom>
            <a:avLst/>
            <a:gdLst/>
            <a:ahLst/>
            <a:cxnLst/>
            <a:rect r="r" b="b" t="t" l="l"/>
            <a:pathLst>
              <a:path h="4066773" w="4066773">
                <a:moveTo>
                  <a:pt x="0" y="0"/>
                </a:moveTo>
                <a:lnTo>
                  <a:pt x="4066773" y="0"/>
                </a:lnTo>
                <a:lnTo>
                  <a:pt x="4066773" y="4066773"/>
                </a:lnTo>
                <a:lnTo>
                  <a:pt x="0" y="4066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04687" y="8319201"/>
            <a:ext cx="4066773" cy="4066773"/>
          </a:xfrm>
          <a:custGeom>
            <a:avLst/>
            <a:gdLst/>
            <a:ahLst/>
            <a:cxnLst/>
            <a:rect r="r" b="b" t="t" l="l"/>
            <a:pathLst>
              <a:path h="4066773" w="4066773">
                <a:moveTo>
                  <a:pt x="0" y="0"/>
                </a:moveTo>
                <a:lnTo>
                  <a:pt x="4066774" y="0"/>
                </a:lnTo>
                <a:lnTo>
                  <a:pt x="4066774" y="4066773"/>
                </a:lnTo>
                <a:lnTo>
                  <a:pt x="0" y="4066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07731" y="3151051"/>
            <a:ext cx="8872538" cy="4629150"/>
            <a:chOff x="0" y="0"/>
            <a:chExt cx="23368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36800">
                  <a:moveTo>
                    <a:pt x="6108" y="0"/>
                  </a:moveTo>
                  <a:lnTo>
                    <a:pt x="2330692" y="0"/>
                  </a:lnTo>
                  <a:cubicBezTo>
                    <a:pt x="2334065" y="0"/>
                    <a:pt x="2336800" y="2735"/>
                    <a:pt x="2336800" y="6108"/>
                  </a:cubicBezTo>
                  <a:lnTo>
                    <a:pt x="2336800" y="1213092"/>
                  </a:lnTo>
                  <a:cubicBezTo>
                    <a:pt x="2336800" y="1216465"/>
                    <a:pt x="2334065" y="1219200"/>
                    <a:pt x="2330692" y="1219200"/>
                  </a:cubicBezTo>
                  <a:lnTo>
                    <a:pt x="6108" y="1219200"/>
                  </a:lnTo>
                  <a:cubicBezTo>
                    <a:pt x="2735" y="1219200"/>
                    <a:pt x="0" y="1216465"/>
                    <a:pt x="0" y="1213092"/>
                  </a:cubicBezTo>
                  <a:lnTo>
                    <a:pt x="0" y="6108"/>
                  </a:lnTo>
                  <a:cubicBezTo>
                    <a:pt x="0" y="2735"/>
                    <a:pt x="2735" y="0"/>
                    <a:pt x="6108" y="0"/>
                  </a:cubicBezTo>
                  <a:close/>
                </a:path>
              </a:pathLst>
            </a:custGeom>
            <a:solidFill>
              <a:srgbClr val="00569E">
                <a:alpha val="81961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336800" cy="129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69"/>
                </a:lnSpc>
              </a:pPr>
              <a:r>
                <a:rPr lang="en-US" b="true" sz="4049">
                  <a:solidFill>
                    <a:srgbClr val="FFFFFF">
                      <a:alpha val="81961"/>
                    </a:srgbClr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Data analysis project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91031" y="4046752"/>
            <a:ext cx="8184594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b="true" sz="5424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CROWD FUNDING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34000" y="6269477"/>
            <a:ext cx="8298656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analysis using Excel, SQL, Power BI&amp; Tableau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496664" y="-2868902"/>
            <a:ext cx="7050727" cy="6114903"/>
          </a:xfrm>
          <a:custGeom>
            <a:avLst/>
            <a:gdLst/>
            <a:ahLst/>
            <a:cxnLst/>
            <a:rect r="r" b="b" t="t" l="l"/>
            <a:pathLst>
              <a:path h="6114903" w="7050727">
                <a:moveTo>
                  <a:pt x="0" y="0"/>
                </a:moveTo>
                <a:lnTo>
                  <a:pt x="7050728" y="0"/>
                </a:lnTo>
                <a:lnTo>
                  <a:pt x="7050728" y="6114903"/>
                </a:lnTo>
                <a:lnTo>
                  <a:pt x="0" y="6114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674630" y="3704600"/>
            <a:ext cx="3412067" cy="2959192"/>
          </a:xfrm>
          <a:custGeom>
            <a:avLst/>
            <a:gdLst/>
            <a:ahLst/>
            <a:cxnLst/>
            <a:rect r="r" b="b" t="t" l="l"/>
            <a:pathLst>
              <a:path h="2959192" w="3412067">
                <a:moveTo>
                  <a:pt x="0" y="0"/>
                </a:moveTo>
                <a:lnTo>
                  <a:pt x="3412067" y="0"/>
                </a:lnTo>
                <a:lnTo>
                  <a:pt x="3412067" y="2959192"/>
                </a:lnTo>
                <a:lnTo>
                  <a:pt x="0" y="2959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54064" y="6205194"/>
            <a:ext cx="9454273" cy="8199433"/>
          </a:xfrm>
          <a:custGeom>
            <a:avLst/>
            <a:gdLst/>
            <a:ahLst/>
            <a:cxnLst/>
            <a:rect r="r" b="b" t="t" l="l"/>
            <a:pathLst>
              <a:path h="8199433" w="9454273">
                <a:moveTo>
                  <a:pt x="0" y="0"/>
                </a:moveTo>
                <a:lnTo>
                  <a:pt x="9454272" y="0"/>
                </a:lnTo>
                <a:lnTo>
                  <a:pt x="9454272" y="8199433"/>
                </a:lnTo>
                <a:lnTo>
                  <a:pt x="0" y="8199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5783" y="8606199"/>
            <a:ext cx="5390682" cy="490824"/>
          </a:xfrm>
          <a:custGeom>
            <a:avLst/>
            <a:gdLst/>
            <a:ahLst/>
            <a:cxnLst/>
            <a:rect r="r" b="b" t="t" l="l"/>
            <a:pathLst>
              <a:path h="490824" w="5390682">
                <a:moveTo>
                  <a:pt x="0" y="0"/>
                </a:moveTo>
                <a:lnTo>
                  <a:pt x="5390682" y="0"/>
                </a:lnTo>
                <a:lnTo>
                  <a:pt x="5390682" y="490824"/>
                </a:lnTo>
                <a:lnTo>
                  <a:pt x="0" y="490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912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81967" y="3246001"/>
            <a:ext cx="3412067" cy="2959192"/>
          </a:xfrm>
          <a:custGeom>
            <a:avLst/>
            <a:gdLst/>
            <a:ahLst/>
            <a:cxnLst/>
            <a:rect r="r" b="b" t="t" l="l"/>
            <a:pathLst>
              <a:path h="2959192" w="3412067">
                <a:moveTo>
                  <a:pt x="0" y="0"/>
                </a:moveTo>
                <a:lnTo>
                  <a:pt x="3412066" y="0"/>
                </a:lnTo>
                <a:lnTo>
                  <a:pt x="3412066" y="2959193"/>
                </a:lnTo>
                <a:lnTo>
                  <a:pt x="0" y="2959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53595" y="4000066"/>
            <a:ext cx="5717892" cy="3282396"/>
            <a:chOff x="0" y="0"/>
            <a:chExt cx="1505947" cy="8644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05947" cy="864499"/>
            </a:xfrm>
            <a:custGeom>
              <a:avLst/>
              <a:gdLst/>
              <a:ahLst/>
              <a:cxnLst/>
              <a:rect r="r" b="b" t="t" l="l"/>
              <a:pathLst>
                <a:path h="864499" w="1505947">
                  <a:moveTo>
                    <a:pt x="17602" y="0"/>
                  </a:moveTo>
                  <a:lnTo>
                    <a:pt x="1488345" y="0"/>
                  </a:lnTo>
                  <a:cubicBezTo>
                    <a:pt x="1498066" y="0"/>
                    <a:pt x="1505947" y="7881"/>
                    <a:pt x="1505947" y="17602"/>
                  </a:cubicBezTo>
                  <a:lnTo>
                    <a:pt x="1505947" y="846898"/>
                  </a:lnTo>
                  <a:cubicBezTo>
                    <a:pt x="1505947" y="851566"/>
                    <a:pt x="1504092" y="856043"/>
                    <a:pt x="1500791" y="859344"/>
                  </a:cubicBezTo>
                  <a:cubicBezTo>
                    <a:pt x="1497490" y="862645"/>
                    <a:pt x="1493013" y="864499"/>
                    <a:pt x="1488345" y="864499"/>
                  </a:cubicBezTo>
                  <a:lnTo>
                    <a:pt x="17602" y="864499"/>
                  </a:lnTo>
                  <a:cubicBezTo>
                    <a:pt x="7881" y="864499"/>
                    <a:pt x="0" y="856619"/>
                    <a:pt x="0" y="846898"/>
                  </a:cubicBezTo>
                  <a:lnTo>
                    <a:pt x="0" y="17602"/>
                  </a:lnTo>
                  <a:cubicBezTo>
                    <a:pt x="0" y="7881"/>
                    <a:pt x="7881" y="0"/>
                    <a:pt x="1760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84C6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05947" cy="893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33972" y="188550"/>
            <a:ext cx="5979035" cy="9923192"/>
          </a:xfrm>
          <a:custGeom>
            <a:avLst/>
            <a:gdLst/>
            <a:ahLst/>
            <a:cxnLst/>
            <a:rect r="r" b="b" t="t" l="l"/>
            <a:pathLst>
              <a:path h="9923192" w="5979035">
                <a:moveTo>
                  <a:pt x="0" y="0"/>
                </a:moveTo>
                <a:lnTo>
                  <a:pt x="5979036" y="0"/>
                </a:lnTo>
                <a:lnTo>
                  <a:pt x="5979036" y="9923192"/>
                </a:lnTo>
                <a:lnTo>
                  <a:pt x="0" y="9923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450" t="0" r="-1294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80414" y="4146690"/>
            <a:ext cx="4587156" cy="313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262" indent="-322131" lvl="1">
              <a:lnSpc>
                <a:spcPts val="5043"/>
              </a:lnSpc>
              <a:buFont typeface="Arial"/>
              <a:buChar char="•"/>
            </a:pPr>
            <a:r>
              <a:rPr lang="en-US" sz="2984" spc="292">
                <a:solidFill>
                  <a:srgbClr val="00569E"/>
                </a:solidFill>
                <a:latin typeface="Canva Sans"/>
                <a:ea typeface="Canva Sans"/>
                <a:cs typeface="Canva Sans"/>
                <a:sym typeface="Canva Sans"/>
              </a:rPr>
              <a:t>Harshitha reddy</a:t>
            </a:r>
          </a:p>
          <a:p>
            <a:pPr algn="l" marL="644262" indent="-322131" lvl="1">
              <a:lnSpc>
                <a:spcPts val="5043"/>
              </a:lnSpc>
              <a:buFont typeface="Arial"/>
              <a:buChar char="•"/>
            </a:pPr>
            <a:r>
              <a:rPr lang="en-US" sz="2984" spc="292">
                <a:solidFill>
                  <a:srgbClr val="00569E"/>
                </a:solidFill>
                <a:latin typeface="Canva Sans"/>
                <a:ea typeface="Canva Sans"/>
                <a:cs typeface="Canva Sans"/>
                <a:sym typeface="Canva Sans"/>
              </a:rPr>
              <a:t>Pranitha</a:t>
            </a:r>
          </a:p>
          <a:p>
            <a:pPr algn="l" marL="644262" indent="-322131" lvl="1">
              <a:lnSpc>
                <a:spcPts val="5043"/>
              </a:lnSpc>
              <a:buFont typeface="Arial"/>
              <a:buChar char="•"/>
            </a:pPr>
            <a:r>
              <a:rPr lang="en-US" sz="2984" spc="292">
                <a:solidFill>
                  <a:srgbClr val="00569E"/>
                </a:solidFill>
                <a:latin typeface="Canva Sans"/>
                <a:ea typeface="Canva Sans"/>
                <a:cs typeface="Canva Sans"/>
                <a:sym typeface="Canva Sans"/>
              </a:rPr>
              <a:t>Vishwaraj</a:t>
            </a:r>
          </a:p>
          <a:p>
            <a:pPr algn="l" marL="644262" indent="-322131" lvl="1">
              <a:lnSpc>
                <a:spcPts val="5043"/>
              </a:lnSpc>
              <a:buFont typeface="Arial"/>
              <a:buChar char="•"/>
            </a:pPr>
            <a:r>
              <a:rPr lang="en-US" sz="2984" spc="292">
                <a:solidFill>
                  <a:srgbClr val="00569E"/>
                </a:solidFill>
                <a:latin typeface="Canva Sans"/>
                <a:ea typeface="Canva Sans"/>
                <a:cs typeface="Canva Sans"/>
                <a:sym typeface="Canva Sans"/>
              </a:rPr>
              <a:t>Raj bheda</a:t>
            </a:r>
          </a:p>
          <a:p>
            <a:pPr algn="l">
              <a:lnSpc>
                <a:spcPts val="50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57512" y="2817376"/>
            <a:ext cx="491005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16"/>
              </a:lnSpc>
              <a:spcBef>
                <a:spcPct val="0"/>
              </a:spcBef>
            </a:pPr>
            <a:r>
              <a:rPr lang="en-US" sz="5514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TEAMMATES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27718"/>
            <a:ext cx="18288000" cy="7843837"/>
          </a:xfrm>
          <a:custGeom>
            <a:avLst/>
            <a:gdLst/>
            <a:ahLst/>
            <a:cxnLst/>
            <a:rect r="r" b="b" t="t" l="l"/>
            <a:pathLst>
              <a:path h="7843837" w="18288000">
                <a:moveTo>
                  <a:pt x="0" y="0"/>
                </a:moveTo>
                <a:lnTo>
                  <a:pt x="18288000" y="0"/>
                </a:lnTo>
                <a:lnTo>
                  <a:pt x="18288000" y="7843837"/>
                </a:lnTo>
                <a:lnTo>
                  <a:pt x="0" y="7843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209" r="0" b="-301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48694" y="4507102"/>
            <a:ext cx="1219061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47"/>
              </a:lnSpc>
              <a:spcBef>
                <a:spcPct val="0"/>
              </a:spcBef>
            </a:pPr>
            <a:r>
              <a:rPr lang="en-US" sz="437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73780"/>
            <a:ext cx="7520377" cy="308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Crowdfunding is a method of raising money from a large number of people through online platforms. Many startups and creative projects use crowdfunding to collect funds.</a:t>
            </a:r>
          </a:p>
          <a:p>
            <a:pPr algn="l">
              <a:lnSpc>
                <a:spcPts val="2712"/>
              </a:lnSpc>
            </a:pP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this project, we analyzed crowdfunding data to understand: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Which projects are successful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Which categories attract more funding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Which locations have more projects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Patterns behind successful and failed projects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72650" y="6173780"/>
            <a:ext cx="7520377" cy="342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937" spc="-4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Tools used in this project include SQL, Excel, Power BI, and Tableau for data cleaning, analysis, and visualization.</a:t>
            </a:r>
          </a:p>
          <a:p>
            <a:pPr algn="l">
              <a:lnSpc>
                <a:spcPts val="2712"/>
              </a:lnSpc>
            </a:pP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main objectives of this project are: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analyze crowdfunding project data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identify successful vs failed projects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understand project distribution by category and location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create dashboards and charts for better visualization</a:t>
            </a:r>
          </a:p>
          <a:p>
            <a:pPr algn="l" marL="418241" indent="-209120" lvl="1">
              <a:lnSpc>
                <a:spcPts val="2712"/>
              </a:lnSpc>
              <a:buFont typeface="Arial"/>
              <a:buChar char="•"/>
            </a:pPr>
            <a:r>
              <a:rPr lang="en-US" sz="1937" spc="-48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 provide insights and recommendations for improving project success rate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9144000" y="5732493"/>
            <a:ext cx="19050" cy="38687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5588636"/>
            <a:ext cx="2624498" cy="42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496" spc="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Crowd funding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8923" y="5588636"/>
            <a:ext cx="3273274" cy="42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496" spc="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904665" y="9773388"/>
            <a:ext cx="166683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98945" y="8550101"/>
            <a:ext cx="4557028" cy="4557028"/>
          </a:xfrm>
          <a:custGeom>
            <a:avLst/>
            <a:gdLst/>
            <a:ahLst/>
            <a:cxnLst/>
            <a:rect r="r" b="b" t="t" l="l"/>
            <a:pathLst>
              <a:path h="4557028" w="4557028">
                <a:moveTo>
                  <a:pt x="0" y="0"/>
                </a:moveTo>
                <a:lnTo>
                  <a:pt x="4557027" y="0"/>
                </a:lnTo>
                <a:lnTo>
                  <a:pt x="4557027" y="4557028"/>
                </a:lnTo>
                <a:lnTo>
                  <a:pt x="0" y="4557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6702" y="-1906870"/>
            <a:ext cx="9830244" cy="9830244"/>
          </a:xfrm>
          <a:custGeom>
            <a:avLst/>
            <a:gdLst/>
            <a:ahLst/>
            <a:cxnLst/>
            <a:rect r="r" b="b" t="t" l="l"/>
            <a:pathLst>
              <a:path h="9830244" w="9830244">
                <a:moveTo>
                  <a:pt x="0" y="0"/>
                </a:moveTo>
                <a:lnTo>
                  <a:pt x="9830243" y="0"/>
                </a:lnTo>
                <a:lnTo>
                  <a:pt x="9830243" y="9830243"/>
                </a:lnTo>
                <a:lnTo>
                  <a:pt x="0" y="9830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418763" y="-1690821"/>
            <a:ext cx="9398182" cy="9398145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88439" y="8897507"/>
            <a:ext cx="780406" cy="7804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50000">
                  <a:srgbClr val="00B5F8">
                    <a:alpha val="100000"/>
                  </a:srgbClr>
                </a:gs>
                <a:gs pos="100000">
                  <a:srgbClr val="2B5D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82958" y="8159898"/>
            <a:ext cx="780406" cy="7804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50000">
                  <a:srgbClr val="00B5F8">
                    <a:alpha val="100000"/>
                  </a:srgbClr>
                </a:gs>
                <a:gs pos="100000">
                  <a:srgbClr val="2B5D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91182" y="2006859"/>
            <a:ext cx="5046621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  <a:spcBef>
                <a:spcPct val="0"/>
              </a:spcBef>
            </a:pPr>
            <a:r>
              <a:rPr lang="en-US" b="true" sz="3058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PROJECT REQUIREMENTS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306" y="2756316"/>
            <a:ext cx="7120380" cy="51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following requirements were needed to complete the project: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Crowdfunding dataset containing project information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Tools for data analysis and visualization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cleaning and preprocessing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 creation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Software Used: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SQL – Data extraction and querying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Excel – Data cleaning and KPI analysis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Tableau – Data visualization dashboards</a:t>
            </a:r>
          </a:p>
          <a:p>
            <a:pPr algn="l" marL="491460" indent="-245730" lvl="1">
              <a:lnSpc>
                <a:spcPts val="3414"/>
              </a:lnSpc>
              <a:buFont typeface="Arial"/>
              <a:buChar char="•"/>
            </a:pPr>
            <a:r>
              <a:rPr lang="en-US" sz="2276" spc="-5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Power BI – Interactive data dashboards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31" t="-15932" r="0" b="-159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2501252" y="1142912"/>
            <a:ext cx="13285496" cy="8115388"/>
            <a:chOff x="0" y="0"/>
            <a:chExt cx="3499061" cy="2137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9061" cy="2137386"/>
            </a:xfrm>
            <a:custGeom>
              <a:avLst/>
              <a:gdLst/>
              <a:ahLst/>
              <a:cxnLst/>
              <a:rect r="r" b="b" t="t" l="l"/>
              <a:pathLst>
                <a:path h="2137386" w="3499061">
                  <a:moveTo>
                    <a:pt x="0" y="0"/>
                  </a:moveTo>
                  <a:lnTo>
                    <a:pt x="3499061" y="0"/>
                  </a:lnTo>
                  <a:lnTo>
                    <a:pt x="3499061" y="2137386"/>
                  </a:lnTo>
                  <a:lnTo>
                    <a:pt x="0" y="2137386"/>
                  </a:lnTo>
                  <a:close/>
                </a:path>
              </a:pathLst>
            </a:custGeom>
            <a:gradFill rotWithShape="true">
              <a:gsLst>
                <a:gs pos="0">
                  <a:srgbClr val="2C3240">
                    <a:alpha val="100000"/>
                  </a:srgbClr>
                </a:gs>
                <a:gs pos="50000">
                  <a:srgbClr val="2C3240">
                    <a:alpha val="85500"/>
                  </a:srgbClr>
                </a:gs>
                <a:gs pos="100000">
                  <a:srgbClr val="2C3240">
                    <a:alpha val="77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3499061" cy="221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21797" y="2200766"/>
            <a:ext cx="9720605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50"/>
              </a:lnSpc>
              <a:spcBef>
                <a:spcPct val="0"/>
              </a:spcBef>
            </a:pPr>
            <a:r>
              <a:rPr lang="en-US" b="true" sz="4042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DATASET</a:t>
            </a:r>
            <a:r>
              <a:rPr lang="en-US" b="true" sz="404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b="true" sz="4042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23001" y="3206912"/>
            <a:ext cx="12518198" cy="46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dataset used in this project contains information about different crowdfunding campaigns. It includes details about projects, creators, categories, and locations.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fields in the dataset include: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1)</a:t>
            </a: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Project ID – Unique identifier for each project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2)</a:t>
            </a: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Category ID &amp; Category Name – Type of project category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3)</a:t>
            </a: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Creator ID – Information about the project creator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4)</a:t>
            </a: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Location ID &amp; Location Name – Location where the project was created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5)</a:t>
            </a: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State – Status of the project such as successful or failed</a:t>
            </a:r>
          </a:p>
          <a:p>
            <a:pPr algn="ctr">
              <a:lnSpc>
                <a:spcPts val="3444"/>
              </a:lnSpc>
            </a:pPr>
            <a:r>
              <a:rPr lang="en-US" sz="24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dataset helps analyze crowdfunding trends and understand which types of projects are more successful.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569E">
                <a:alpha val="100000"/>
              </a:srgbClr>
            </a:gs>
            <a:gs pos="50000">
              <a:srgbClr val="00569E">
                <a:alpha val="100000"/>
              </a:srgbClr>
            </a:gs>
            <a:gs pos="100000">
              <a:srgbClr val="00B5F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7467" y="-3396059"/>
            <a:ext cx="9830244" cy="9830244"/>
          </a:xfrm>
          <a:custGeom>
            <a:avLst/>
            <a:gdLst/>
            <a:ahLst/>
            <a:cxnLst/>
            <a:rect r="r" b="b" t="t" l="l"/>
            <a:pathLst>
              <a:path h="9830244" w="9830244">
                <a:moveTo>
                  <a:pt x="0" y="0"/>
                </a:moveTo>
                <a:lnTo>
                  <a:pt x="9830244" y="0"/>
                </a:lnTo>
                <a:lnTo>
                  <a:pt x="9830244" y="9830244"/>
                </a:lnTo>
                <a:lnTo>
                  <a:pt x="0" y="9830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61875" y="8845935"/>
            <a:ext cx="10554120" cy="960956"/>
          </a:xfrm>
          <a:custGeom>
            <a:avLst/>
            <a:gdLst/>
            <a:ahLst/>
            <a:cxnLst/>
            <a:rect r="r" b="b" t="t" l="l"/>
            <a:pathLst>
              <a:path h="960956" w="10554120">
                <a:moveTo>
                  <a:pt x="0" y="0"/>
                </a:moveTo>
                <a:lnTo>
                  <a:pt x="10554120" y="0"/>
                </a:lnTo>
                <a:lnTo>
                  <a:pt x="10554120" y="960957"/>
                </a:lnTo>
                <a:lnTo>
                  <a:pt x="0" y="960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91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9882" y="306391"/>
            <a:ext cx="17148975" cy="8744662"/>
            <a:chOff x="0" y="0"/>
            <a:chExt cx="5435896" cy="2771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5896" cy="2771890"/>
            </a:xfrm>
            <a:custGeom>
              <a:avLst/>
              <a:gdLst/>
              <a:ahLst/>
              <a:cxnLst/>
              <a:rect r="r" b="b" t="t" l="l"/>
              <a:pathLst>
                <a:path h="2771890" w="5435896">
                  <a:moveTo>
                    <a:pt x="5869" y="0"/>
                  </a:moveTo>
                  <a:lnTo>
                    <a:pt x="5430027" y="0"/>
                  </a:lnTo>
                  <a:cubicBezTo>
                    <a:pt x="5431584" y="0"/>
                    <a:pt x="5433077" y="618"/>
                    <a:pt x="5434177" y="1719"/>
                  </a:cubicBezTo>
                  <a:cubicBezTo>
                    <a:pt x="5435278" y="2820"/>
                    <a:pt x="5435896" y="4312"/>
                    <a:pt x="5435896" y="5869"/>
                  </a:cubicBezTo>
                  <a:lnTo>
                    <a:pt x="5435896" y="2766021"/>
                  </a:lnTo>
                  <a:cubicBezTo>
                    <a:pt x="5435896" y="2767578"/>
                    <a:pt x="5435278" y="2769071"/>
                    <a:pt x="5434177" y="2770171"/>
                  </a:cubicBezTo>
                  <a:cubicBezTo>
                    <a:pt x="5433077" y="2771272"/>
                    <a:pt x="5431584" y="2771890"/>
                    <a:pt x="5430027" y="2771890"/>
                  </a:cubicBezTo>
                  <a:lnTo>
                    <a:pt x="5869" y="2771890"/>
                  </a:lnTo>
                  <a:cubicBezTo>
                    <a:pt x="4312" y="2771890"/>
                    <a:pt x="2820" y="2771272"/>
                    <a:pt x="1719" y="2770171"/>
                  </a:cubicBezTo>
                  <a:cubicBezTo>
                    <a:pt x="618" y="2769071"/>
                    <a:pt x="0" y="2767578"/>
                    <a:pt x="0" y="2766021"/>
                  </a:cubicBezTo>
                  <a:lnTo>
                    <a:pt x="0" y="5869"/>
                  </a:lnTo>
                  <a:cubicBezTo>
                    <a:pt x="0" y="4312"/>
                    <a:pt x="618" y="2820"/>
                    <a:pt x="1719" y="1719"/>
                  </a:cubicBezTo>
                  <a:cubicBezTo>
                    <a:pt x="2820" y="618"/>
                    <a:pt x="4312" y="0"/>
                    <a:pt x="58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84C6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435896" cy="280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344651" y="6462760"/>
            <a:ext cx="3807081" cy="7614163"/>
          </a:xfrm>
          <a:custGeom>
            <a:avLst/>
            <a:gdLst/>
            <a:ahLst/>
            <a:cxnLst/>
            <a:rect r="r" b="b" t="t" l="l"/>
            <a:pathLst>
              <a:path h="7614163" w="3807081">
                <a:moveTo>
                  <a:pt x="3807081" y="0"/>
                </a:moveTo>
                <a:lnTo>
                  <a:pt x="0" y="0"/>
                </a:lnTo>
                <a:lnTo>
                  <a:pt x="0" y="7614163"/>
                </a:lnTo>
                <a:lnTo>
                  <a:pt x="3807081" y="7614163"/>
                </a:lnTo>
                <a:lnTo>
                  <a:pt x="38070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213" y="1663144"/>
            <a:ext cx="5628603" cy="6356958"/>
          </a:xfrm>
          <a:custGeom>
            <a:avLst/>
            <a:gdLst/>
            <a:ahLst/>
            <a:cxnLst/>
            <a:rect r="r" b="b" t="t" l="l"/>
            <a:pathLst>
              <a:path h="6356958" w="5628603">
                <a:moveTo>
                  <a:pt x="0" y="0"/>
                </a:moveTo>
                <a:lnTo>
                  <a:pt x="5628603" y="0"/>
                </a:lnTo>
                <a:lnTo>
                  <a:pt x="562860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448" r="0" b="-1644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38935" y="2079666"/>
            <a:ext cx="8348120" cy="5895860"/>
          </a:xfrm>
          <a:custGeom>
            <a:avLst/>
            <a:gdLst/>
            <a:ahLst/>
            <a:cxnLst/>
            <a:rect r="r" b="b" t="t" l="l"/>
            <a:pathLst>
              <a:path h="5895860" w="8348120">
                <a:moveTo>
                  <a:pt x="0" y="0"/>
                </a:moveTo>
                <a:lnTo>
                  <a:pt x="8348120" y="0"/>
                </a:lnTo>
                <a:lnTo>
                  <a:pt x="8348120" y="5895860"/>
                </a:lnTo>
                <a:lnTo>
                  <a:pt x="0" y="5895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8805" y="1321831"/>
            <a:ext cx="941112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1"/>
              </a:lnSpc>
              <a:spcBef>
                <a:spcPct val="0"/>
              </a:spcBef>
            </a:pPr>
            <a:r>
              <a:rPr lang="en-US" b="true" sz="4567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CHARTS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569E">
                <a:alpha val="100000"/>
              </a:srgbClr>
            </a:gs>
            <a:gs pos="50000">
              <a:srgbClr val="00569E">
                <a:alpha val="100000"/>
              </a:srgbClr>
            </a:gs>
            <a:gs pos="100000">
              <a:srgbClr val="00B5F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7467" y="-3396059"/>
            <a:ext cx="9830244" cy="9830244"/>
          </a:xfrm>
          <a:custGeom>
            <a:avLst/>
            <a:gdLst/>
            <a:ahLst/>
            <a:cxnLst/>
            <a:rect r="r" b="b" t="t" l="l"/>
            <a:pathLst>
              <a:path h="9830244" w="9830244">
                <a:moveTo>
                  <a:pt x="0" y="0"/>
                </a:moveTo>
                <a:lnTo>
                  <a:pt x="9830244" y="0"/>
                </a:lnTo>
                <a:lnTo>
                  <a:pt x="9830244" y="9830244"/>
                </a:lnTo>
                <a:lnTo>
                  <a:pt x="0" y="9830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61875" y="8845935"/>
            <a:ext cx="10554120" cy="960956"/>
          </a:xfrm>
          <a:custGeom>
            <a:avLst/>
            <a:gdLst/>
            <a:ahLst/>
            <a:cxnLst/>
            <a:rect r="r" b="b" t="t" l="l"/>
            <a:pathLst>
              <a:path h="960956" w="10554120">
                <a:moveTo>
                  <a:pt x="0" y="0"/>
                </a:moveTo>
                <a:lnTo>
                  <a:pt x="10554120" y="0"/>
                </a:lnTo>
                <a:lnTo>
                  <a:pt x="10554120" y="960957"/>
                </a:lnTo>
                <a:lnTo>
                  <a:pt x="0" y="960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691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9882" y="306391"/>
            <a:ext cx="17148975" cy="8744662"/>
            <a:chOff x="0" y="0"/>
            <a:chExt cx="5435896" cy="2771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35896" cy="2771890"/>
            </a:xfrm>
            <a:custGeom>
              <a:avLst/>
              <a:gdLst/>
              <a:ahLst/>
              <a:cxnLst/>
              <a:rect r="r" b="b" t="t" l="l"/>
              <a:pathLst>
                <a:path h="2771890" w="5435896">
                  <a:moveTo>
                    <a:pt x="5869" y="0"/>
                  </a:moveTo>
                  <a:lnTo>
                    <a:pt x="5430027" y="0"/>
                  </a:lnTo>
                  <a:cubicBezTo>
                    <a:pt x="5431584" y="0"/>
                    <a:pt x="5433077" y="618"/>
                    <a:pt x="5434177" y="1719"/>
                  </a:cubicBezTo>
                  <a:cubicBezTo>
                    <a:pt x="5435278" y="2820"/>
                    <a:pt x="5435896" y="4312"/>
                    <a:pt x="5435896" y="5869"/>
                  </a:cubicBezTo>
                  <a:lnTo>
                    <a:pt x="5435896" y="2766021"/>
                  </a:lnTo>
                  <a:cubicBezTo>
                    <a:pt x="5435896" y="2767578"/>
                    <a:pt x="5435278" y="2769071"/>
                    <a:pt x="5434177" y="2770171"/>
                  </a:cubicBezTo>
                  <a:cubicBezTo>
                    <a:pt x="5433077" y="2771272"/>
                    <a:pt x="5431584" y="2771890"/>
                    <a:pt x="5430027" y="2771890"/>
                  </a:cubicBezTo>
                  <a:lnTo>
                    <a:pt x="5869" y="2771890"/>
                  </a:lnTo>
                  <a:cubicBezTo>
                    <a:pt x="4312" y="2771890"/>
                    <a:pt x="2820" y="2771272"/>
                    <a:pt x="1719" y="2770171"/>
                  </a:cubicBezTo>
                  <a:cubicBezTo>
                    <a:pt x="618" y="2769071"/>
                    <a:pt x="0" y="2767578"/>
                    <a:pt x="0" y="2766021"/>
                  </a:cubicBezTo>
                  <a:lnTo>
                    <a:pt x="0" y="5869"/>
                  </a:lnTo>
                  <a:cubicBezTo>
                    <a:pt x="0" y="4312"/>
                    <a:pt x="618" y="2820"/>
                    <a:pt x="1719" y="1719"/>
                  </a:cubicBezTo>
                  <a:cubicBezTo>
                    <a:pt x="2820" y="618"/>
                    <a:pt x="4312" y="0"/>
                    <a:pt x="58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84C6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435896" cy="2800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344651" y="6462760"/>
            <a:ext cx="3807081" cy="7614163"/>
          </a:xfrm>
          <a:custGeom>
            <a:avLst/>
            <a:gdLst/>
            <a:ahLst/>
            <a:cxnLst/>
            <a:rect r="r" b="b" t="t" l="l"/>
            <a:pathLst>
              <a:path h="7614163" w="3807081">
                <a:moveTo>
                  <a:pt x="3807081" y="0"/>
                </a:moveTo>
                <a:lnTo>
                  <a:pt x="0" y="0"/>
                </a:lnTo>
                <a:lnTo>
                  <a:pt x="0" y="7614163"/>
                </a:lnTo>
                <a:lnTo>
                  <a:pt x="3807081" y="7614163"/>
                </a:lnTo>
                <a:lnTo>
                  <a:pt x="38070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5383" y="2040186"/>
            <a:ext cx="7908987" cy="5981171"/>
          </a:xfrm>
          <a:custGeom>
            <a:avLst/>
            <a:gdLst/>
            <a:ahLst/>
            <a:cxnLst/>
            <a:rect r="r" b="b" t="t" l="l"/>
            <a:pathLst>
              <a:path h="5981171" w="7908987">
                <a:moveTo>
                  <a:pt x="0" y="0"/>
                </a:moveTo>
                <a:lnTo>
                  <a:pt x="7908986" y="0"/>
                </a:lnTo>
                <a:lnTo>
                  <a:pt x="7908986" y="5981171"/>
                </a:lnTo>
                <a:lnTo>
                  <a:pt x="0" y="5981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00842" y="2030793"/>
            <a:ext cx="7817532" cy="5999956"/>
          </a:xfrm>
          <a:custGeom>
            <a:avLst/>
            <a:gdLst/>
            <a:ahLst/>
            <a:cxnLst/>
            <a:rect r="r" b="b" t="t" l="l"/>
            <a:pathLst>
              <a:path h="5999956" w="7817532">
                <a:moveTo>
                  <a:pt x="0" y="0"/>
                </a:moveTo>
                <a:lnTo>
                  <a:pt x="7817532" y="0"/>
                </a:lnTo>
                <a:lnTo>
                  <a:pt x="7817532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8805" y="1177751"/>
            <a:ext cx="941112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1"/>
              </a:lnSpc>
              <a:spcBef>
                <a:spcPct val="0"/>
              </a:spcBef>
            </a:pPr>
            <a:r>
              <a:rPr lang="en-US" b="true" sz="4567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CHARTS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4471" y="-611137"/>
            <a:ext cx="15134786" cy="15885749"/>
          </a:xfrm>
          <a:custGeom>
            <a:avLst/>
            <a:gdLst/>
            <a:ahLst/>
            <a:cxnLst/>
            <a:rect r="r" b="b" t="t" l="l"/>
            <a:pathLst>
              <a:path h="15885749" w="15134786">
                <a:moveTo>
                  <a:pt x="0" y="0"/>
                </a:moveTo>
                <a:lnTo>
                  <a:pt x="15134786" y="0"/>
                </a:lnTo>
                <a:lnTo>
                  <a:pt x="15134786" y="15885749"/>
                </a:lnTo>
                <a:lnTo>
                  <a:pt x="0" y="15885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58218" y="-3254671"/>
            <a:ext cx="13832787" cy="14519147"/>
          </a:xfrm>
          <a:custGeom>
            <a:avLst/>
            <a:gdLst/>
            <a:ahLst/>
            <a:cxnLst/>
            <a:rect r="r" b="b" t="t" l="l"/>
            <a:pathLst>
              <a:path h="14519147" w="13832787">
                <a:moveTo>
                  <a:pt x="0" y="0"/>
                </a:moveTo>
                <a:lnTo>
                  <a:pt x="13832787" y="0"/>
                </a:lnTo>
                <a:lnTo>
                  <a:pt x="13832787" y="14519147"/>
                </a:lnTo>
                <a:lnTo>
                  <a:pt x="0" y="14519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55746" y="2715295"/>
            <a:ext cx="12776509" cy="4856409"/>
            <a:chOff x="0" y="0"/>
            <a:chExt cx="3365006" cy="12790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65006" cy="1279054"/>
            </a:xfrm>
            <a:custGeom>
              <a:avLst/>
              <a:gdLst/>
              <a:ahLst/>
              <a:cxnLst/>
              <a:rect r="r" b="b" t="t" l="l"/>
              <a:pathLst>
                <a:path h="1279054" w="3365006">
                  <a:moveTo>
                    <a:pt x="0" y="0"/>
                  </a:moveTo>
                  <a:lnTo>
                    <a:pt x="3365006" y="0"/>
                  </a:lnTo>
                  <a:lnTo>
                    <a:pt x="3365006" y="1279054"/>
                  </a:lnTo>
                  <a:lnTo>
                    <a:pt x="0" y="1279054"/>
                  </a:lnTo>
                  <a:close/>
                </a:path>
              </a:pathLst>
            </a:custGeom>
            <a:solidFill>
              <a:srgbClr val="084C6E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65006" cy="1307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280094" y="4217168"/>
            <a:ext cx="1172781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8"/>
              </a:lnSpc>
            </a:pPr>
            <a:r>
              <a:rPr lang="en-US" b="true" sz="11073">
                <a:solidFill>
                  <a:srgbClr val="F4C76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635" y="-830277"/>
            <a:ext cx="18823904" cy="12541426"/>
          </a:xfrm>
          <a:custGeom>
            <a:avLst/>
            <a:gdLst/>
            <a:ahLst/>
            <a:cxnLst/>
            <a:rect r="r" b="b" t="t" l="l"/>
            <a:pathLst>
              <a:path h="12541426" w="18823904">
                <a:moveTo>
                  <a:pt x="0" y="0"/>
                </a:moveTo>
                <a:lnTo>
                  <a:pt x="18823904" y="0"/>
                </a:lnTo>
                <a:lnTo>
                  <a:pt x="18823904" y="12541426"/>
                </a:lnTo>
                <a:lnTo>
                  <a:pt x="0" y="1254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2112" y="4500018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3"/>
                </a:lnTo>
                <a:lnTo>
                  <a:pt x="0" y="57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72318" y="615547"/>
            <a:ext cx="6337951" cy="4173008"/>
            <a:chOff x="0" y="0"/>
            <a:chExt cx="1669255" cy="1099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 Excel we created: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KPI metrics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 counts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summary tables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Pivot charts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Excel helped in data cleaning and quick analysis before building dashboards in other tools.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28023" y="-830277"/>
            <a:ext cx="1652680" cy="2314575"/>
            <a:chOff x="0" y="0"/>
            <a:chExt cx="435274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420931" y="-830277"/>
            <a:ext cx="10589798" cy="2314575"/>
            <a:chOff x="0" y="0"/>
            <a:chExt cx="2789082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9082" cy="609600"/>
            </a:xfrm>
            <a:custGeom>
              <a:avLst/>
              <a:gdLst/>
              <a:ahLst/>
              <a:cxnLst/>
              <a:rect r="r" b="b" t="t" l="l"/>
              <a:pathLst>
                <a:path h="609600" w="2789082">
                  <a:moveTo>
                    <a:pt x="203200" y="0"/>
                  </a:moveTo>
                  <a:lnTo>
                    <a:pt x="2789082" y="0"/>
                  </a:lnTo>
                  <a:lnTo>
                    <a:pt x="258588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76200"/>
              <a:ext cx="2585882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6745" y="-9566"/>
            <a:ext cx="1066666" cy="1493864"/>
            <a:chOff x="0" y="0"/>
            <a:chExt cx="435274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2238" y="2829403"/>
            <a:ext cx="10979585" cy="4511778"/>
          </a:xfrm>
          <a:custGeom>
            <a:avLst/>
            <a:gdLst/>
            <a:ahLst/>
            <a:cxnLst/>
            <a:rect r="r" b="b" t="t" l="l"/>
            <a:pathLst>
              <a:path h="4511778" w="10979585">
                <a:moveTo>
                  <a:pt x="0" y="0"/>
                </a:moveTo>
                <a:lnTo>
                  <a:pt x="10979586" y="0"/>
                </a:lnTo>
                <a:lnTo>
                  <a:pt x="10979586" y="4511778"/>
                </a:lnTo>
                <a:lnTo>
                  <a:pt x="0" y="451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" r="-1484" b="-19767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652112" y="5384936"/>
            <a:ext cx="6337951" cy="4173008"/>
            <a:chOff x="0" y="0"/>
            <a:chExt cx="1669255" cy="1099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dashboard includes: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Total number of projects created in the dataset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Successful vs Failed projects analysis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category to identify popular project types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location to understand geographical distribution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652112" y="9557943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3"/>
                </a:lnTo>
                <a:lnTo>
                  <a:pt x="0" y="57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59489" y="141605"/>
            <a:ext cx="64682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4C7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EXCEL DASHBOARD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990063" cy="11046236"/>
          </a:xfrm>
          <a:custGeom>
            <a:avLst/>
            <a:gdLst/>
            <a:ahLst/>
            <a:cxnLst/>
            <a:rect r="r" b="b" t="t" l="l"/>
            <a:pathLst>
              <a:path h="11046236" w="17990063">
                <a:moveTo>
                  <a:pt x="0" y="0"/>
                </a:moveTo>
                <a:lnTo>
                  <a:pt x="17990063" y="0"/>
                </a:lnTo>
                <a:lnTo>
                  <a:pt x="17990063" y="11046236"/>
                </a:lnTo>
                <a:lnTo>
                  <a:pt x="0" y="11046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-160" t="0" r="-160" b="-90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2112" y="4500018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3"/>
                </a:lnTo>
                <a:lnTo>
                  <a:pt x="0" y="57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439221"/>
            <a:ext cx="7966331" cy="3695795"/>
            <a:chOff x="0" y="0"/>
            <a:chExt cx="2098128" cy="9733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8129" cy="973378"/>
            </a:xfrm>
            <a:custGeom>
              <a:avLst/>
              <a:gdLst/>
              <a:ahLst/>
              <a:cxnLst/>
              <a:rect r="r" b="b" t="t" l="l"/>
              <a:pathLst>
                <a:path h="973378" w="2098129">
                  <a:moveTo>
                    <a:pt x="11662" y="0"/>
                  </a:moveTo>
                  <a:lnTo>
                    <a:pt x="2086467" y="0"/>
                  </a:lnTo>
                  <a:cubicBezTo>
                    <a:pt x="2092907" y="0"/>
                    <a:pt x="2098129" y="5221"/>
                    <a:pt x="2098129" y="11662"/>
                  </a:cubicBezTo>
                  <a:lnTo>
                    <a:pt x="2098129" y="961716"/>
                  </a:lnTo>
                  <a:cubicBezTo>
                    <a:pt x="2098129" y="964809"/>
                    <a:pt x="2096900" y="967775"/>
                    <a:pt x="2094713" y="969962"/>
                  </a:cubicBezTo>
                  <a:cubicBezTo>
                    <a:pt x="2092526" y="972149"/>
                    <a:pt x="2089559" y="973378"/>
                    <a:pt x="2086467" y="973378"/>
                  </a:cubicBezTo>
                  <a:lnTo>
                    <a:pt x="11662" y="973378"/>
                  </a:lnTo>
                  <a:cubicBezTo>
                    <a:pt x="8569" y="973378"/>
                    <a:pt x="5603" y="972149"/>
                    <a:pt x="3416" y="969962"/>
                  </a:cubicBezTo>
                  <a:cubicBezTo>
                    <a:pt x="1229" y="967775"/>
                    <a:pt x="0" y="964809"/>
                    <a:pt x="0" y="961716"/>
                  </a:cubicBezTo>
                  <a:lnTo>
                    <a:pt x="0" y="11662"/>
                  </a:lnTo>
                  <a:cubicBezTo>
                    <a:pt x="0" y="8569"/>
                    <a:pt x="1229" y="5603"/>
                    <a:pt x="3416" y="3416"/>
                  </a:cubicBezTo>
                  <a:cubicBezTo>
                    <a:pt x="5603" y="1229"/>
                    <a:pt x="8569" y="0"/>
                    <a:pt x="11662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98128" cy="101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Power BI was used to create advanced dashboards with: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 relationships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Visual analytics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Interactive filters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Power BI provides a clear and interactive view of project data.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28023" y="-830277"/>
            <a:ext cx="1652680" cy="2314575"/>
            <a:chOff x="0" y="0"/>
            <a:chExt cx="435274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420931" y="-830277"/>
            <a:ext cx="10589798" cy="2314575"/>
            <a:chOff x="0" y="0"/>
            <a:chExt cx="2789082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9082" cy="609600"/>
            </a:xfrm>
            <a:custGeom>
              <a:avLst/>
              <a:gdLst/>
              <a:ahLst/>
              <a:cxnLst/>
              <a:rect r="r" b="b" t="t" l="l"/>
              <a:pathLst>
                <a:path h="609600" w="2789082">
                  <a:moveTo>
                    <a:pt x="203200" y="0"/>
                  </a:moveTo>
                  <a:lnTo>
                    <a:pt x="2789082" y="0"/>
                  </a:lnTo>
                  <a:lnTo>
                    <a:pt x="258588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76200"/>
              <a:ext cx="2585882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6745" y="-9566"/>
            <a:ext cx="1066666" cy="1493864"/>
            <a:chOff x="0" y="0"/>
            <a:chExt cx="435274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56745" y="6439221"/>
            <a:ext cx="7629342" cy="3695795"/>
            <a:chOff x="0" y="0"/>
            <a:chExt cx="2009374" cy="9733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09374" cy="973378"/>
            </a:xfrm>
            <a:custGeom>
              <a:avLst/>
              <a:gdLst/>
              <a:ahLst/>
              <a:cxnLst/>
              <a:rect r="r" b="b" t="t" l="l"/>
              <a:pathLst>
                <a:path h="973378" w="2009374">
                  <a:moveTo>
                    <a:pt x="12177" y="0"/>
                  </a:moveTo>
                  <a:lnTo>
                    <a:pt x="1997197" y="0"/>
                  </a:lnTo>
                  <a:cubicBezTo>
                    <a:pt x="2000426" y="0"/>
                    <a:pt x="2003524" y="1283"/>
                    <a:pt x="2005807" y="3567"/>
                  </a:cubicBezTo>
                  <a:cubicBezTo>
                    <a:pt x="2008091" y="5850"/>
                    <a:pt x="2009374" y="8948"/>
                    <a:pt x="2009374" y="12177"/>
                  </a:cubicBezTo>
                  <a:lnTo>
                    <a:pt x="2009374" y="961201"/>
                  </a:lnTo>
                  <a:cubicBezTo>
                    <a:pt x="2009374" y="964431"/>
                    <a:pt x="2008091" y="967528"/>
                    <a:pt x="2005807" y="969812"/>
                  </a:cubicBezTo>
                  <a:cubicBezTo>
                    <a:pt x="2003524" y="972095"/>
                    <a:pt x="2000426" y="973378"/>
                    <a:pt x="1997197" y="973378"/>
                  </a:cubicBezTo>
                  <a:lnTo>
                    <a:pt x="12177" y="973378"/>
                  </a:lnTo>
                  <a:cubicBezTo>
                    <a:pt x="5452" y="973378"/>
                    <a:pt x="0" y="967926"/>
                    <a:pt x="0" y="961201"/>
                  </a:cubicBezTo>
                  <a:lnTo>
                    <a:pt x="0" y="12177"/>
                  </a:lnTo>
                  <a:cubicBezTo>
                    <a:pt x="0" y="5452"/>
                    <a:pt x="5452" y="0"/>
                    <a:pt x="12177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09374" cy="101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 this dashboard we analyzed: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Successful vs Failed Projects to understand project performance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Category to identify the most popular categories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Location/Country to see where most projects are created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Creator activity to understand how many projects are created by different creators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374939" y="9998464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2"/>
                </a:lnTo>
                <a:lnTo>
                  <a:pt x="0" y="57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5707" y="1648388"/>
            <a:ext cx="9158656" cy="4452611"/>
          </a:xfrm>
          <a:custGeom>
            <a:avLst/>
            <a:gdLst/>
            <a:ahLst/>
            <a:cxnLst/>
            <a:rect r="r" b="b" t="t" l="l"/>
            <a:pathLst>
              <a:path h="4452611" w="9158656">
                <a:moveTo>
                  <a:pt x="0" y="0"/>
                </a:moveTo>
                <a:lnTo>
                  <a:pt x="9158656" y="0"/>
                </a:lnTo>
                <a:lnTo>
                  <a:pt x="9158656" y="4452611"/>
                </a:lnTo>
                <a:lnTo>
                  <a:pt x="0" y="4452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42" t="0" r="-642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28352" y="1648388"/>
            <a:ext cx="8361711" cy="4452611"/>
          </a:xfrm>
          <a:custGeom>
            <a:avLst/>
            <a:gdLst/>
            <a:ahLst/>
            <a:cxnLst/>
            <a:rect r="r" b="b" t="t" l="l"/>
            <a:pathLst>
              <a:path h="4452611" w="8361711">
                <a:moveTo>
                  <a:pt x="0" y="0"/>
                </a:moveTo>
                <a:lnTo>
                  <a:pt x="8361711" y="0"/>
                </a:lnTo>
                <a:lnTo>
                  <a:pt x="8361711" y="4452611"/>
                </a:lnTo>
                <a:lnTo>
                  <a:pt x="0" y="4452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3106" y="141605"/>
            <a:ext cx="76410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4C7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416311"/>
          </a:xfrm>
          <a:custGeom>
            <a:avLst/>
            <a:gdLst/>
            <a:ahLst/>
            <a:cxnLst/>
            <a:rect r="r" b="b" t="t" l="l"/>
            <a:pathLst>
              <a:path h="12416311" w="18288000">
                <a:moveTo>
                  <a:pt x="0" y="0"/>
                </a:moveTo>
                <a:lnTo>
                  <a:pt x="18288000" y="0"/>
                </a:lnTo>
                <a:lnTo>
                  <a:pt x="18288000" y="12416311"/>
                </a:lnTo>
                <a:lnTo>
                  <a:pt x="0" y="124163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-21329" r="0" b="-603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52112" y="4500018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3"/>
                </a:lnTo>
                <a:lnTo>
                  <a:pt x="0" y="57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52112" y="327011"/>
            <a:ext cx="6337951" cy="4173008"/>
            <a:chOff x="0" y="0"/>
            <a:chExt cx="1669255" cy="1099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Tableau was used to create interactive visualizations such as: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 vs Failed Projects Pie Chart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Location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Category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Creator activity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dashboard helps users explore project data visually.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28023" y="-830277"/>
            <a:ext cx="1652680" cy="2314575"/>
            <a:chOff x="0" y="0"/>
            <a:chExt cx="435274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420931" y="-830277"/>
            <a:ext cx="10589798" cy="2314575"/>
            <a:chOff x="0" y="0"/>
            <a:chExt cx="2789082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9082" cy="609600"/>
            </a:xfrm>
            <a:custGeom>
              <a:avLst/>
              <a:gdLst/>
              <a:ahLst/>
              <a:cxnLst/>
              <a:rect r="r" b="b" t="t" l="l"/>
              <a:pathLst>
                <a:path h="609600" w="2789082">
                  <a:moveTo>
                    <a:pt x="203200" y="0"/>
                  </a:moveTo>
                  <a:lnTo>
                    <a:pt x="2789082" y="0"/>
                  </a:lnTo>
                  <a:lnTo>
                    <a:pt x="258588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76200"/>
              <a:ext cx="2585882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56745" y="-9566"/>
            <a:ext cx="1066666" cy="1493864"/>
            <a:chOff x="0" y="0"/>
            <a:chExt cx="435274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274" cy="609600"/>
            </a:xfrm>
            <a:custGeom>
              <a:avLst/>
              <a:gdLst/>
              <a:ahLst/>
              <a:cxnLst/>
              <a:rect r="r" b="b" t="t" l="l"/>
              <a:pathLst>
                <a:path h="609600" w="435274">
                  <a:moveTo>
                    <a:pt x="203200" y="0"/>
                  </a:moveTo>
                  <a:lnTo>
                    <a:pt x="435274" y="0"/>
                  </a:lnTo>
                  <a:lnTo>
                    <a:pt x="23207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0B5F8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76200"/>
              <a:ext cx="232074" cy="68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2112" y="5085292"/>
            <a:ext cx="6337951" cy="4173008"/>
            <a:chOff x="0" y="0"/>
            <a:chExt cx="1669255" cy="1099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 this dashboard we analyzed:</a:t>
              </a:r>
            </a:p>
            <a:p>
              <a:pPr algn="l" marL="485777" indent="-242888" lvl="1">
                <a:lnSpc>
                  <a:spcPts val="3150"/>
                </a:lnSpc>
                <a:buFont typeface="Arial"/>
                <a:buChar char="•"/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Successful vs Failed Projects to understand project performance</a:t>
              </a:r>
            </a:p>
            <a:p>
              <a:pPr algn="l" marL="485777" indent="-242888" lvl="1">
                <a:lnSpc>
                  <a:spcPts val="3150"/>
                </a:lnSpc>
                <a:buFont typeface="Arial"/>
                <a:buChar char="•"/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Category to identify the most popular categories</a:t>
              </a:r>
            </a:p>
            <a:p>
              <a:pPr algn="l" marL="485777" indent="-242888" lvl="1">
                <a:lnSpc>
                  <a:spcPts val="3150"/>
                </a:lnSpc>
                <a:buFont typeface="Arial"/>
                <a:buChar char="•"/>
              </a:pPr>
              <a:r>
                <a:rPr lang="en-US" sz="2250">
                  <a:solidFill>
                    <a:srgbClr val="F4C76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Projects by Location/Country to see where most projects are created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Creator activity to understand how many projects are created by different creators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652112" y="9267825"/>
            <a:ext cx="6337951" cy="577073"/>
          </a:xfrm>
          <a:custGeom>
            <a:avLst/>
            <a:gdLst/>
            <a:ahLst/>
            <a:cxnLst/>
            <a:rect r="r" b="b" t="t" l="l"/>
            <a:pathLst>
              <a:path h="577073" w="6337951">
                <a:moveTo>
                  <a:pt x="0" y="0"/>
                </a:moveTo>
                <a:lnTo>
                  <a:pt x="6337951" y="0"/>
                </a:lnTo>
                <a:lnTo>
                  <a:pt x="6337951" y="577073"/>
                </a:lnTo>
                <a:lnTo>
                  <a:pt x="0" y="577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1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50853" y="2413515"/>
            <a:ext cx="11022603" cy="6201566"/>
          </a:xfrm>
          <a:custGeom>
            <a:avLst/>
            <a:gdLst/>
            <a:ahLst/>
            <a:cxnLst/>
            <a:rect r="r" b="b" t="t" l="l"/>
            <a:pathLst>
              <a:path h="6201566" w="11022603">
                <a:moveTo>
                  <a:pt x="0" y="0"/>
                </a:moveTo>
                <a:lnTo>
                  <a:pt x="11022603" y="0"/>
                </a:lnTo>
                <a:lnTo>
                  <a:pt x="11022603" y="6201565"/>
                </a:lnTo>
                <a:lnTo>
                  <a:pt x="0" y="6201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28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1623" y="141605"/>
            <a:ext cx="74040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4C7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TABLEAU</a:t>
            </a:r>
            <a:r>
              <a:rPr lang="en-US" b="true" sz="5199">
                <a:solidFill>
                  <a:srgbClr val="F4C7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DASHBOARD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27718"/>
            <a:ext cx="18288000" cy="10245024"/>
          </a:xfrm>
          <a:custGeom>
            <a:avLst/>
            <a:gdLst/>
            <a:ahLst/>
            <a:cxnLst/>
            <a:rect r="r" b="b" t="t" l="l"/>
            <a:pathLst>
              <a:path h="10245024" w="18288000">
                <a:moveTo>
                  <a:pt x="0" y="0"/>
                </a:moveTo>
                <a:lnTo>
                  <a:pt x="18288000" y="0"/>
                </a:lnTo>
                <a:lnTo>
                  <a:pt x="18288000" y="10245023"/>
                </a:lnTo>
                <a:lnTo>
                  <a:pt x="0" y="10245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-186" t="-19372" r="-18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5943" y="1028700"/>
            <a:ext cx="11324480" cy="4322732"/>
          </a:xfrm>
          <a:custGeom>
            <a:avLst/>
            <a:gdLst/>
            <a:ahLst/>
            <a:cxnLst/>
            <a:rect r="r" b="b" t="t" l="l"/>
            <a:pathLst>
              <a:path h="4322732" w="11324480">
                <a:moveTo>
                  <a:pt x="0" y="0"/>
                </a:moveTo>
                <a:lnTo>
                  <a:pt x="11324480" y="0"/>
                </a:lnTo>
                <a:lnTo>
                  <a:pt x="11324480" y="4322732"/>
                </a:lnTo>
                <a:lnTo>
                  <a:pt x="0" y="4322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" r="0" b="-10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21775" y="1028700"/>
            <a:ext cx="6337951" cy="4173008"/>
            <a:chOff x="0" y="0"/>
            <a:chExt cx="1669255" cy="1099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Crowd Funding Project Outcomes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21775" y="5780057"/>
            <a:ext cx="6337951" cy="5295995"/>
            <a:chOff x="0" y="0"/>
            <a:chExt cx="1669255" cy="1394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9255" cy="1394830"/>
            </a:xfrm>
            <a:custGeom>
              <a:avLst/>
              <a:gdLst/>
              <a:ahLst/>
              <a:cxnLst/>
              <a:rect r="r" b="b" t="t" l="l"/>
              <a:pathLst>
                <a:path h="1394830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380172"/>
                  </a:lnTo>
                  <a:cubicBezTo>
                    <a:pt x="1669255" y="1384059"/>
                    <a:pt x="1667710" y="1387788"/>
                    <a:pt x="1664961" y="1390537"/>
                  </a:cubicBezTo>
                  <a:cubicBezTo>
                    <a:pt x="1662212" y="1393286"/>
                    <a:pt x="1658484" y="1394830"/>
                    <a:pt x="1654596" y="1394830"/>
                  </a:cubicBezTo>
                  <a:lnTo>
                    <a:pt x="14658" y="1394830"/>
                  </a:lnTo>
                  <a:cubicBezTo>
                    <a:pt x="10771" y="1394830"/>
                    <a:pt x="7042" y="1393286"/>
                    <a:pt x="4293" y="1390537"/>
                  </a:cubicBezTo>
                  <a:cubicBezTo>
                    <a:pt x="1544" y="1387788"/>
                    <a:pt x="0" y="1384059"/>
                    <a:pt x="0" y="1380172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69255" cy="1432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Project Timeline Analysis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query extracts the calendar year, quarter, and month from the dataset.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 helps organize crowdfunding project data based on time periods.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makes it easier to analyze trends across different months and years.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 is useful for identifying seasonal or yearly patterns in crowdfunding campaigns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5943" y="5443762"/>
            <a:ext cx="11324480" cy="4439272"/>
          </a:xfrm>
          <a:custGeom>
            <a:avLst/>
            <a:gdLst/>
            <a:ahLst/>
            <a:cxnLst/>
            <a:rect r="r" b="b" t="t" l="l"/>
            <a:pathLst>
              <a:path h="4439272" w="11324480">
                <a:moveTo>
                  <a:pt x="0" y="0"/>
                </a:moveTo>
                <a:lnTo>
                  <a:pt x="11324480" y="0"/>
                </a:lnTo>
                <a:lnTo>
                  <a:pt x="11324480" y="4439272"/>
                </a:lnTo>
                <a:lnTo>
                  <a:pt x="0" y="4439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398" r="0" b="-1839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75909" y="206375"/>
            <a:ext cx="11936182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9"/>
              </a:lnSpc>
              <a:spcBef>
                <a:spcPct val="0"/>
              </a:spcBef>
            </a:pPr>
            <a:r>
              <a:rPr lang="en-US" b="true" sz="5299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SQL QUERIES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21775" y="1980391"/>
            <a:ext cx="6337951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query analyzes the outcomes of crowdfunding projects.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groups the projects based on their state or status.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Outcomes include states such as successful, failed, canceled, suspended, and live.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27718"/>
            <a:ext cx="18288000" cy="10245024"/>
          </a:xfrm>
          <a:custGeom>
            <a:avLst/>
            <a:gdLst/>
            <a:ahLst/>
            <a:cxnLst/>
            <a:rect r="r" b="b" t="t" l="l"/>
            <a:pathLst>
              <a:path h="10245024" w="18288000">
                <a:moveTo>
                  <a:pt x="0" y="0"/>
                </a:moveTo>
                <a:lnTo>
                  <a:pt x="18288000" y="0"/>
                </a:lnTo>
                <a:lnTo>
                  <a:pt x="18288000" y="10245023"/>
                </a:lnTo>
                <a:lnTo>
                  <a:pt x="0" y="10245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-186" t="-19372" r="-18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21775" y="1028700"/>
            <a:ext cx="6337951" cy="4173008"/>
            <a:chOff x="0" y="0"/>
            <a:chExt cx="1669255" cy="1099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Total Amount Raised By Project</a:t>
              </a: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query calculates the total amount of money raised by crowdfunding projects.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 helps to understand how much funding was collected from supporters.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result shows the overall financial performance of the campaigns.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21775" y="5780057"/>
            <a:ext cx="6337951" cy="4173008"/>
            <a:chOff x="0" y="0"/>
            <a:chExt cx="1669255" cy="1099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Percentage Of Successful Projects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query calculates the overall percentage of successful crowdfunding projects.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 compares the number of successful projects with the total number of projects.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AFAFA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result helps to measure the success rate of campaigns.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86234" y="1028700"/>
            <a:ext cx="10606689" cy="4410632"/>
          </a:xfrm>
          <a:custGeom>
            <a:avLst/>
            <a:gdLst/>
            <a:ahLst/>
            <a:cxnLst/>
            <a:rect r="r" b="b" t="t" l="l"/>
            <a:pathLst>
              <a:path h="4410632" w="10606689">
                <a:moveTo>
                  <a:pt x="0" y="0"/>
                </a:moveTo>
                <a:lnTo>
                  <a:pt x="10606689" y="0"/>
                </a:lnTo>
                <a:lnTo>
                  <a:pt x="10606689" y="4410632"/>
                </a:lnTo>
                <a:lnTo>
                  <a:pt x="0" y="4410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109" r="-4597" b="-1229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234" y="5780057"/>
            <a:ext cx="10606689" cy="4153213"/>
          </a:xfrm>
          <a:custGeom>
            <a:avLst/>
            <a:gdLst/>
            <a:ahLst/>
            <a:cxnLst/>
            <a:rect r="r" b="b" t="t" l="l"/>
            <a:pathLst>
              <a:path h="4153213" w="10606689">
                <a:moveTo>
                  <a:pt x="0" y="0"/>
                </a:moveTo>
                <a:lnTo>
                  <a:pt x="10606689" y="0"/>
                </a:lnTo>
                <a:lnTo>
                  <a:pt x="10606689" y="4153213"/>
                </a:lnTo>
                <a:lnTo>
                  <a:pt x="0" y="4153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54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75909" y="206375"/>
            <a:ext cx="11936182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9"/>
              </a:lnSpc>
              <a:spcBef>
                <a:spcPct val="0"/>
              </a:spcBef>
            </a:pPr>
            <a:r>
              <a:rPr lang="en-US" b="true" sz="5299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SQL QUERIES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6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827718"/>
            <a:ext cx="18288000" cy="10245024"/>
          </a:xfrm>
          <a:custGeom>
            <a:avLst/>
            <a:gdLst/>
            <a:ahLst/>
            <a:cxnLst/>
            <a:rect r="r" b="b" t="t" l="l"/>
            <a:pathLst>
              <a:path h="10245024" w="18288000">
                <a:moveTo>
                  <a:pt x="0" y="0"/>
                </a:moveTo>
                <a:lnTo>
                  <a:pt x="18288000" y="0"/>
                </a:lnTo>
                <a:lnTo>
                  <a:pt x="18288000" y="10245023"/>
                </a:lnTo>
                <a:lnTo>
                  <a:pt x="0" y="10245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</a:blip>
            <a:stretch>
              <a:fillRect l="-186" t="-19372" r="-18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21775" y="1028700"/>
            <a:ext cx="6337951" cy="4173008"/>
            <a:chOff x="0" y="0"/>
            <a:chExt cx="1669255" cy="1099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Projects By Category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21775" y="5780057"/>
            <a:ext cx="6337951" cy="4173008"/>
            <a:chOff x="0" y="0"/>
            <a:chExt cx="1669255" cy="1099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9255" cy="1099064"/>
            </a:xfrm>
            <a:custGeom>
              <a:avLst/>
              <a:gdLst/>
              <a:ahLst/>
              <a:cxnLst/>
              <a:rect r="r" b="b" t="t" l="l"/>
              <a:pathLst>
                <a:path h="1099064" w="1669255">
                  <a:moveTo>
                    <a:pt x="14658" y="0"/>
                  </a:moveTo>
                  <a:lnTo>
                    <a:pt x="1654596" y="0"/>
                  </a:lnTo>
                  <a:cubicBezTo>
                    <a:pt x="1658484" y="0"/>
                    <a:pt x="1662212" y="1544"/>
                    <a:pt x="1664961" y="4293"/>
                  </a:cubicBezTo>
                  <a:cubicBezTo>
                    <a:pt x="1667710" y="7042"/>
                    <a:pt x="1669255" y="10771"/>
                    <a:pt x="1669255" y="14658"/>
                  </a:cubicBezTo>
                  <a:lnTo>
                    <a:pt x="1669255" y="1084406"/>
                  </a:lnTo>
                  <a:cubicBezTo>
                    <a:pt x="1669255" y="1088293"/>
                    <a:pt x="1667710" y="1092022"/>
                    <a:pt x="1664961" y="1094770"/>
                  </a:cubicBezTo>
                  <a:cubicBezTo>
                    <a:pt x="1662212" y="1097519"/>
                    <a:pt x="1658484" y="1099064"/>
                    <a:pt x="1654596" y="1099064"/>
                  </a:cubicBezTo>
                  <a:lnTo>
                    <a:pt x="14658" y="1099064"/>
                  </a:lnTo>
                  <a:cubicBezTo>
                    <a:pt x="10771" y="1099064"/>
                    <a:pt x="7042" y="1097519"/>
                    <a:pt x="4293" y="1094770"/>
                  </a:cubicBezTo>
                  <a:cubicBezTo>
                    <a:pt x="1544" y="1092022"/>
                    <a:pt x="0" y="1088293"/>
                    <a:pt x="0" y="1084406"/>
                  </a:cubicBezTo>
                  <a:lnTo>
                    <a:pt x="0" y="14658"/>
                  </a:lnTo>
                  <a:cubicBezTo>
                    <a:pt x="0" y="10771"/>
                    <a:pt x="1544" y="7042"/>
                    <a:pt x="4293" y="4293"/>
                  </a:cubicBezTo>
                  <a:cubicBezTo>
                    <a:pt x="7042" y="1544"/>
                    <a:pt x="10771" y="0"/>
                    <a:pt x="14658" y="0"/>
                  </a:cubicBezTo>
                  <a:close/>
                </a:path>
              </a:pathLst>
            </a:custGeom>
            <a:solidFill>
              <a:srgbClr val="00569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69255" cy="1137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Top 10 successful Projects By Backers</a:t>
              </a:r>
            </a:p>
            <a:p>
              <a:pPr algn="ctr">
                <a:lnSpc>
                  <a:spcPts val="3150"/>
                </a:lnSpc>
              </a:pP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This query identifies the top 10 successful crowdfunding projects based on the number of backers.</a:t>
              </a:r>
            </a:p>
            <a:p>
              <a:pPr algn="ctr">
                <a:lnSpc>
                  <a:spcPts val="3150"/>
                </a:lnSpc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It selects projects where the state is marked as successful.</a:t>
              </a:r>
            </a:p>
            <a:p>
              <a:pPr algn="ctr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projects are ordered by backers_count in descending order.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141678"/>
            <a:ext cx="8226601" cy="4060030"/>
          </a:xfrm>
          <a:custGeom>
            <a:avLst/>
            <a:gdLst/>
            <a:ahLst/>
            <a:cxnLst/>
            <a:rect r="r" b="b" t="t" l="l"/>
            <a:pathLst>
              <a:path h="4060030" w="8226601">
                <a:moveTo>
                  <a:pt x="0" y="0"/>
                </a:moveTo>
                <a:lnTo>
                  <a:pt x="8226601" y="0"/>
                </a:lnTo>
                <a:lnTo>
                  <a:pt x="8226601" y="4060030"/>
                </a:lnTo>
                <a:lnTo>
                  <a:pt x="0" y="4060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25" r="0" b="-807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5584705"/>
            <a:ext cx="8285467" cy="4114800"/>
          </a:xfrm>
          <a:custGeom>
            <a:avLst/>
            <a:gdLst/>
            <a:ahLst/>
            <a:cxnLst/>
            <a:rect r="r" b="b" t="t" l="l"/>
            <a:pathLst>
              <a:path h="4114800" w="8285467">
                <a:moveTo>
                  <a:pt x="0" y="0"/>
                </a:moveTo>
                <a:lnTo>
                  <a:pt x="8285467" y="0"/>
                </a:lnTo>
                <a:lnTo>
                  <a:pt x="8285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657" r="-13417" b="-163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75909" y="206375"/>
            <a:ext cx="11936182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9"/>
              </a:lnSpc>
              <a:spcBef>
                <a:spcPct val="0"/>
              </a:spcBef>
            </a:pPr>
            <a:r>
              <a:rPr lang="en-US" b="true" sz="5299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SQL QUERIES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21775" y="1794654"/>
            <a:ext cx="6337951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query shows the number of crowdfunding projects in each category.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groups projects based on their category names.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helps identify which categories have the most campaigns.</a:t>
            </a:r>
          </a:p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result highlights popular categories among creators.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31" t="-15932" r="0" b="-159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465901" y="1028700"/>
            <a:ext cx="15793399" cy="8229600"/>
            <a:chOff x="0" y="0"/>
            <a:chExt cx="4159578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59578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59578">
                  <a:moveTo>
                    <a:pt x="0" y="0"/>
                  </a:moveTo>
                  <a:lnTo>
                    <a:pt x="4159578" y="0"/>
                  </a:lnTo>
                  <a:lnTo>
                    <a:pt x="4159578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true">
              <a:gsLst>
                <a:gs pos="0">
                  <a:srgbClr val="2C3240">
                    <a:alpha val="100000"/>
                  </a:srgbClr>
                </a:gs>
                <a:gs pos="50000">
                  <a:srgbClr val="2C3240">
                    <a:alpha val="85500"/>
                  </a:srgbClr>
                </a:gs>
                <a:gs pos="100000">
                  <a:srgbClr val="2C3240">
                    <a:alpha val="77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159578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564265"/>
            <a:ext cx="4960235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0"/>
              </a:lnSpc>
              <a:spcBef>
                <a:spcPct val="0"/>
              </a:spcBef>
            </a:pPr>
            <a:r>
              <a:rPr lang="en-US" b="true" sz="3042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9318" y="5736591"/>
            <a:ext cx="5378218" cy="4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50"/>
              </a:lnSpc>
              <a:spcBef>
                <a:spcPct val="0"/>
              </a:spcBef>
            </a:pPr>
            <a:r>
              <a:rPr lang="en-US" b="true" sz="3042">
                <a:solidFill>
                  <a:srgbClr val="F4C763"/>
                </a:solidFill>
                <a:latin typeface="Now Bold"/>
                <a:ea typeface="Now Bold"/>
                <a:cs typeface="Now Bold"/>
                <a:sym typeface="Now Bold"/>
              </a:rPr>
              <a:t>RECOMMENDATION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9851" y="6398425"/>
            <a:ext cx="13285496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Creators should set realistic funding goals to increase the chances of project success.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Choosing popular and high-demand categories can help attract more backers.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Promoting campaigns effectively can improve visibility and supporter engagement.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Focusing on countries with strong crowdfunding activity may increase project reach.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data analysis can help creators plan better and improve campaign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9851" y="2104203"/>
            <a:ext cx="13285496" cy="306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analysis of crowdfunding data provides valuable insights into project performance and trends.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shows how project outcomes, categories, funding goals, and locations influence campaign success.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 projects often attract more backers and set realistic funding goals.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Overall, this analysis helps understand key factors that lead to successful crowdfunding campaigns.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1151" y="4713201"/>
            <a:ext cx="6809338" cy="2278434"/>
            <a:chOff x="0" y="0"/>
            <a:chExt cx="1793406" cy="600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3406" cy="600081"/>
            </a:xfrm>
            <a:custGeom>
              <a:avLst/>
              <a:gdLst/>
              <a:ahLst/>
              <a:cxnLst/>
              <a:rect r="r" b="b" t="t" l="l"/>
              <a:pathLst>
                <a:path h="600081" w="1793406">
                  <a:moveTo>
                    <a:pt x="0" y="0"/>
                  </a:moveTo>
                  <a:lnTo>
                    <a:pt x="1793406" y="0"/>
                  </a:lnTo>
                  <a:lnTo>
                    <a:pt x="1793406" y="600081"/>
                  </a:lnTo>
                  <a:lnTo>
                    <a:pt x="0" y="600081"/>
                  </a:lnTo>
                  <a:close/>
                </a:path>
              </a:pathLst>
            </a:custGeom>
            <a:solidFill>
              <a:srgbClr val="FAFAF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93406" cy="62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659700" y="6652330"/>
            <a:ext cx="6492240" cy="0"/>
          </a:xfrm>
          <a:prstGeom prst="line">
            <a:avLst/>
          </a:prstGeom>
          <a:ln cap="flat" w="38100">
            <a:solidFill>
              <a:srgbClr val="084C6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255756" y="1651611"/>
            <a:ext cx="5725737" cy="9001836"/>
            <a:chOff x="0" y="0"/>
            <a:chExt cx="5671566" cy="8916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5575" y="155575"/>
              <a:ext cx="536041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360416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2"/>
              <a:stretch>
                <a:fillRect l="-70479" t="0" r="-7047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5658866" cy="8903970"/>
            </a:xfrm>
            <a:custGeom>
              <a:avLst/>
              <a:gdLst/>
              <a:ahLst/>
              <a:cxnLst/>
              <a:rect r="r" b="b" t="t" l="l"/>
              <a:pathLst>
                <a:path h="8903970" w="5658866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968898" y="5511307"/>
            <a:ext cx="6183041" cy="67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66"/>
              </a:lnSpc>
              <a:spcBef>
                <a:spcPct val="0"/>
              </a:spcBef>
            </a:pPr>
            <a:r>
              <a:rPr lang="en-US" b="true" sz="4388">
                <a:solidFill>
                  <a:srgbClr val="084C6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339207" y="-3171458"/>
            <a:ext cx="5565501" cy="5565501"/>
          </a:xfrm>
          <a:custGeom>
            <a:avLst/>
            <a:gdLst/>
            <a:ahLst/>
            <a:cxnLst/>
            <a:rect r="r" b="b" t="t" l="l"/>
            <a:pathLst>
              <a:path h="5565501" w="5565501">
                <a:moveTo>
                  <a:pt x="0" y="0"/>
                </a:moveTo>
                <a:lnTo>
                  <a:pt x="5565501" y="0"/>
                </a:lnTo>
                <a:lnTo>
                  <a:pt x="5565501" y="5565501"/>
                </a:lnTo>
                <a:lnTo>
                  <a:pt x="0" y="55655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05629" y="8308936"/>
            <a:ext cx="3956129" cy="3956129"/>
          </a:xfrm>
          <a:custGeom>
            <a:avLst/>
            <a:gdLst/>
            <a:ahLst/>
            <a:cxnLst/>
            <a:rect r="r" b="b" t="t" l="l"/>
            <a:pathLst>
              <a:path h="3956129" w="3956129">
                <a:moveTo>
                  <a:pt x="0" y="0"/>
                </a:moveTo>
                <a:lnTo>
                  <a:pt x="3956128" y="0"/>
                </a:lnTo>
                <a:lnTo>
                  <a:pt x="3956128" y="3956128"/>
                </a:lnTo>
                <a:lnTo>
                  <a:pt x="0" y="395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DAHEF1dSpaM</dc:identifier>
  <dcterms:modified xsi:type="dcterms:W3CDTF">2011-08-01T06:04:30Z</dcterms:modified>
  <cp:revision>1</cp:revision>
  <dc:title>Blue Professional Modern Business Project Presentation </dc:title>
</cp:coreProperties>
</file>